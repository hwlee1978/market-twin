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45720" cy="48463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E6E3C"/>
                </a:solidFill>
                <a:latin typeface="Pretendard"/>
              </a:rPr>
              <a:t>MR.AI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79A"/>
                </a:solidFill>
                <a:latin typeface="Pretendard"/>
              </a:rPr>
              <a:t>AI-NATIVE CMO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400">
                <a:solidFill>
                  <a:srgbClr val="FAF8F3"/>
                </a:solidFill>
                <a:latin typeface="Pretendard"/>
              </a:rPr>
              <a:t>한 명의 CMO 가
</a:t>
            </a:r>
            <a:r>
              <a:rPr sz="5400" i="1">
                <a:solidFill>
                  <a:srgbClr val="C9B79A"/>
                </a:solidFill>
                <a:latin typeface="Cormorant Garamond"/>
              </a:rPr>
              <a:t>24시간 일한다.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7ECF4"/>
                </a:solidFill>
                <a:latin typeface="Pretendard"/>
              </a:rPr>
              <a:t>FSN 포트폴리오 브랜드의 마케팅·시장조사·콘텐츠를 하나의 시스템으로.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6035040"/>
            <a:ext cx="10469880" cy="0"/>
          </a:xfrm>
          <a:prstGeom prst="line">
            <a:avLst/>
          </a:prstGeom>
          <a:ln w="6350">
            <a:solidFill>
              <a:srgbClr val="4A5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C9B79A"/>
                </a:solidFill>
                <a:latin typeface="Pretendard"/>
              </a:rPr>
              <a:t>STRATEGIC DECK · ㈜미스터에이아이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1722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9B79A"/>
                </a:solidFill>
                <a:latin typeface="Cormorant Garamond"/>
              </a:rPr>
              <a:t>2026.05.29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01 ·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02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Mr.AI 는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5468"/>
                </a:solidFill>
                <a:latin typeface="Pretendard"/>
              </a:rPr>
              <a:t>브랜드의 마케팅·시장조사·콘텐츠 운영을 하나의 메모리 위에 통합한 AI 시스템.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기억하는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Vector + Structured 메모리
매일 컨텍스트 자동 누적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320040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85032" y="3474720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3 계층 분업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48056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Strategist · Analyst · Synthesizer
역할별 책임 명확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320040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92824" y="3474720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자동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448056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크롤 · 브리핑 · 콘텐츠 생성
발행까지 매일 자동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2016" y="320040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0616" y="3474720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측정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448056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KPI 피드백 루프
모든 결과가 다음 학습 input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02 · 아키텍처 · 3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03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3 계층 에이전트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한 AI 가 다 하면 — 책임도 학습도 흐려진다. Mr.AI 는 의도적으로 셋으로 나뉘어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3657600" cy="2743200"/>
          </a:xfrm>
          <a:prstGeom prst="rect">
            <a:avLst/>
          </a:prstGeom>
          <a:solidFill>
            <a:srgbClr val="0F1F3D"/>
          </a:solidFill>
          <a:ln w="6350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C9B79A"/>
                </a:solidFill>
                <a:latin typeface="Pretendard"/>
              </a:rPr>
              <a:t>LAYER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29260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800" i="1">
                <a:solidFill>
                  <a:srgbClr val="FAF8F3"/>
                </a:solidFill>
                <a:latin typeface="Cormorant Garamond"/>
              </a:rPr>
              <a:t>STRATEGIST</a:t>
            </a:r>
          </a:p>
          <a:p>
            <a:r>
              <a:rPr sz="1400">
                <a:solidFill>
                  <a:srgbClr val="FAF8F3"/>
                </a:solidFill>
                <a:latin typeface="Pretendard"/>
              </a:rPr>
              <a:t>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AF8F3"/>
                </a:solidFill>
                <a:latin typeface="Pretendard"/>
              </a:rPr>
              <a:t>분기 KPI · 우선순위 · 시장 진출 결정.
Market Twin 결과를 의사결정으로 변환.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108960"/>
            <a:ext cx="3657600" cy="2743200"/>
          </a:xfrm>
          <a:prstGeom prst="rect">
            <a:avLst/>
          </a:prstGeom>
          <a:solidFill>
            <a:srgbClr val="F0DEC9"/>
          </a:solidFill>
          <a:ln w="6350">
            <a:solidFill>
              <a:srgbClr val="F0D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LAYER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29260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800" i="1">
                <a:solidFill>
                  <a:srgbClr val="0F1F3D"/>
                </a:solidFill>
                <a:latin typeface="Cormorant Garamond"/>
              </a:rPr>
              <a:t>ANALYST</a:t>
            </a:r>
          </a:p>
          <a:p>
            <a:r>
              <a:rPr sz="1400">
                <a:solidFill>
                  <a:srgbClr val="0F1F3D"/>
                </a:solidFill>
                <a:latin typeface="Pretendard"/>
              </a:rPr>
              <a:t>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892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F3D"/>
                </a:solidFill>
                <a:latin typeface="Pretendard"/>
              </a:rPr>
              <a:t>채널·캠페인·세그먼트 단위 기획.
페르소나 데이터를 콘텐츠 spec 으로 변환.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10896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4A5468"/>
                </a:solidFill>
                <a:latin typeface="Pretendard"/>
              </a:rPr>
              <a:t>LAYER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29260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800" i="1">
                <a:solidFill>
                  <a:srgbClr val="0F1F3D"/>
                </a:solidFill>
                <a:latin typeface="Cormorant Garamond"/>
              </a:rPr>
              <a:t>SYNTHESIZER</a:t>
            </a:r>
          </a:p>
          <a:p>
            <a:r>
              <a:rPr sz="1400">
                <a:solidFill>
                  <a:srgbClr val="0F1F3D"/>
                </a:solidFill>
                <a:latin typeface="Pretendard"/>
              </a:rPr>
              <a:t>합성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892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F3D"/>
                </a:solidFill>
                <a:latin typeface="Pretendard"/>
              </a:rPr>
              <a:t>실제 콘텐츠·이미지·시뮬·발행.
결과를 KPI 피드백 루프로 다시 보고.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03 · 메모리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04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어제를 기억한다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Vector 임베딩 + Structured 사실 · 두 종류로 누적. 모든 답변이 워크스페이스 컨텍스트 안에서 나옴.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532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50">
                <a:solidFill>
                  <a:srgbClr val="BE6E3C"/>
                </a:solidFill>
                <a:latin typeface="Pretendard"/>
              </a:rPr>
              <a:t>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F1F3D"/>
                </a:solidFill>
                <a:latin typeface="Pretendard"/>
              </a:rPr>
              <a:t>검증된 사실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4A5468"/>
                </a:solidFill>
                <a:latin typeface="Pretendard"/>
              </a:rPr>
              <a:t>PostgreSQL 정형 테이블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타입 · 제목 · 본문 · 태그 4 필드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임원 결정 · KPI · 가격 · 결정사항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PDF 자동 추출기로 시드 (50p → 메모리 30-60건)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108960"/>
            <a:ext cx="5532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290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50">
                <a:solidFill>
                  <a:srgbClr val="BE6E3C"/>
                </a:solidFill>
                <a:latin typeface="Pretendard"/>
              </a:rPr>
              <a:t>VECTOR (pgvector)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F1F3D"/>
                </a:solidFill>
                <a:latin typeface="Pretendard"/>
              </a:rPr>
              <a:t>의미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062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4A5468"/>
                </a:solidFill>
                <a:latin typeface="Pretendard"/>
              </a:rPr>
              <a:t>1,536차원 임베딩 · cosine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663440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자유 질의 → 의미적 유사 메모리 자동 추출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지난 대화 · 시뮬 결과 모두 검색 가능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워크스페이스 단위 영구 누적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04 · 워크스페이스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05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브랜드 단위 격리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FSN 포트폴리오의 각 브랜드 = 워크스페이스 1개. 데이터·메모리·채널·KPI 모두 워크스페이스 단위로 분리.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2377440" cy="3017520"/>
          </a:xfrm>
          <a:prstGeom prst="rect">
            <a:avLst/>
          </a:prstGeom>
          <a:solidFill>
            <a:srgbClr val="0F1F3D"/>
          </a:solidFill>
          <a:ln w="9525">
            <a:solidFill>
              <a:srgbClr val="0F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C9B79A"/>
                </a:solidFill>
                <a:latin typeface="Pretendard"/>
              </a:rPr>
              <a:t>FSN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8F3"/>
                </a:solidFill>
                <a:latin typeface="Pretendard"/>
              </a:rPr>
              <a:t>본사 계정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9B79A"/>
                </a:solidFill>
                <a:latin typeface="Pretendard"/>
              </a:rPr>
              <a:t>Super admin 권한.
포트폴리오 전체 가시성.
Member 초대 · 권한 관리.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4434840"/>
            <a:ext cx="822960" cy="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49039" y="4297680"/>
            <a:ext cx="182881" cy="13716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49039" y="4434840"/>
            <a:ext cx="182881" cy="13716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114800" y="2926080"/>
            <a:ext cx="7589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4495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300">
                <a:solidFill>
                  <a:srgbClr val="BE6E3C"/>
                </a:solidFill>
                <a:latin typeface="Pretendard"/>
              </a:rPr>
              <a:t>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735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브랜드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4A5468"/>
                </a:solidFill>
                <a:latin typeface="Pretendard"/>
              </a:rPr>
              <a:t>Footwear · KR + JP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703320"/>
            <a:ext cx="7589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2219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300">
                <a:solidFill>
                  <a:srgbClr val="BE6E3C"/>
                </a:solidFill>
                <a:latin typeface="Pretendard"/>
              </a:rPr>
              <a:t>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5079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브랜드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4A5468"/>
                </a:solidFill>
                <a:latin typeface="Pretendard"/>
              </a:rPr>
              <a:t>Apparel · KR + 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480560"/>
            <a:ext cx="7589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5994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300">
                <a:solidFill>
                  <a:srgbClr val="BE6E3C"/>
                </a:solidFill>
                <a:latin typeface="Pretendard"/>
              </a:rPr>
              <a:t>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28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브랜드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091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4A5468"/>
                </a:solidFill>
                <a:latin typeface="Pretendard"/>
              </a:rPr>
              <a:t>Cosmetics · 글로벌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257800"/>
            <a:ext cx="7589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3766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300">
                <a:solidFill>
                  <a:srgbClr val="BE6E3C"/>
                </a:solidFill>
                <a:latin typeface="Pretendard"/>
              </a:rPr>
              <a:t>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6052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브랜드 D · 신규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864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4A5468"/>
                </a:solidFill>
                <a:latin typeface="Pretendard"/>
              </a:rPr>
              <a:t>검토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8A93A4"/>
                </a:solidFill>
                <a:latin typeface="Pretendard"/>
              </a:rPr>
              <a:t>데이터 격리 · Row-Level Security · 페르소나 풀만 글로벌 공유 (cold start 비용 절감)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00 · 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02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로그인 + 워크스페이스 전환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entry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1초 (전환)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한 계정으로 N 브랜드 워크스페이스 운영. 좌측 상단 스위처 한 번에 컨텍스트 전환.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Google OAuth · 이메일·비밀번호 2 경로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워크스페이스 스위처 — 모든 페이지 동일 위치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전환 시 모달 안내 (메모리 · 시뮬 · 채널 재로딩 표시)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ID 기반 경로는 새 워크스페이스의 list 페이지로 자동 redirect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/dashboard · 좌측 상단 워크스페이스 드롭다운 + 전환 오버레이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45720" cy="21031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셋업 단계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first 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05 · AUTO-SEED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04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Auto-Seed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1-minute genesis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9431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45초 ~ 2분 · $0.10-0.30 / 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회사명 한 줄 입력 → 웹 리서치 + LLM 합성 → 8단계 컨텍스트 자동 생성.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8 답변: business · scale · products · channels · competitors · executive · decisions · kpi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각 답변 100-600자, 검색 결과의 브랜드명·숫자·가격 보존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needsReview 자동 태그 — 임원 검토 사항 명시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메모리 시드 + Mr.AI 모든 후속 답변의 컨텍스트로 즉시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 · Auto-Seed 모달 + 8 답변 결과 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06 · 채팅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05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Mr.AI 채팅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conversation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상시 · 무제한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워크스페이스 컨텍스트 + 메모리 + 지식 그래프 위의 대화. 일반 챗봇과 다름.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어제·이번 주·분기 누적 메모리를 자동 호출하여 답변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PDF 드래그&amp;드롭으로 메모리 즉시 시드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코드·표·차트·이미지 모든 응답 형식 지원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Strategist 계층 — 분기 전략/우선순위 직접 토론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 · 채팅 화면 + 메모리 컨텍스트 사이드패널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07 · PDF 메모리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06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메모리 시딩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memory seeding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600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15-30초 / PDF · $0.10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사업계획서 · IR 자료 · 컨설팅 보고서 PDF 드래그&amp;드롭 → '검증 가능한 사실' 만 자동 추출.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50p PDF → 메모리 30-60건 자동 등재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Claude Vision + 텍스트 추출 · 표 · 차트 캡션 포함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type 자동 분해: fact / context / decision / preference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추출된 사실은 모든 후속 콘텐츠 · SEO · 시뮬의 컨텍스트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 · 채팅에 PDF 드래그 후 추출 진행 화면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07 · 브랜드 자산 라이브러리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07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브랜드 자산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brand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66878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10분 (업로드) · 자동 분석 60초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제품 사진 · 로고 · 룩북 · 앰배서더 · 패턴 5 유형으로 자동 정리. 모든 콘텐츠 생성의 시각 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Claude Vision 으로 각도 · 색상 · 로고 위치 자동 메타데이터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제품 프로필 (다음 슬라이드) 의 입력으로 직결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이미지 생성 시 reference 사진 자동 첨부 → 무브랜드 강제 + 후처리 로고 합성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워크스페이스별 격리 · 영구 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/mr-ai/brand · 5 유형 그리드 + 업로드 모달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08 · 제품 프로필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08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제품 프로필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vision spec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53162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$0.02-0.05 · 15-30초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Claude Vision 이 제품 사진 2-5장을 합쳐 단일 정밀 spec 으로 변환. 모든 이미지 생성의 정확한 blueprint.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category · description · 실루엣 · 소재 · 색상 (hex) · 로고 위치 자동 추출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물리 제품 없는 워크스페이스 (SaaS·디지털) 는 manual 카테고리 선택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이미지 생성 시 시각 spec 자동 prepend → 다른 브랜드 실루엣으로 변형 차단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가짜 브랜드 글자 환각 (가장 흔한 실패 모드) 완전 차단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/mr-ai/brand · 제품 프로필 카드 (추출 결과 + 컬러 스와치)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45720" cy="21031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매일 운영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daily operation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09 · 자동 크롤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10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자동 크롤 소스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daily crawl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3944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매일 02:30 KST · 자동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자사 사이트 · 자사 브랜드 뉴스 · 경쟁사 페이지 · 카테고리 트렌드 자동 수집. 변동만 새 메모리로 저장.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카테고리별 프리셋 — footwear / cosmetics / saas_digital 등 자동 노출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Google News RSS · 직접 페이지 fetch 둘 다 지원 (Cloudflare 우회 포함)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프리셋 다중 선택 → 일괄 등록 (그룹 전체 선택 가능)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다음 날 Daily Briefing 에 자동 반영 — 경쟁사 신상 출시 알림 1줄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/mr-ai/brand · 크롤 프리셋 일괄 선택 모달 + 활성 소스 리스트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10 · DAILY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11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Daily Briefing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08:00 KST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14884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매일 08:00 KST · Slack /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어제 요약 · 오늘 챙길 것 · 주의 신호 3 섹션. 메모리 + 크롤 + KPI 자동 합성.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출처 명확 — 추측 일반론 없음. '정보 부족' 명시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Slack OAuth 1회 연결 → 매일 자동 발송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워크스페이스 멤버 전체 또는 특정 채널 발송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임원의 매일 아침 45분 → 3분으로 단축 (연 250시간)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Slack 채널의 실제 브리핑 메시지 예시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11 · SEO + LLM 가시성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12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검색 가시성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search ·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3944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30분 셋업 · 월간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Google + 네이버 + ChatGPT · Claude · Gemini 모두에서 브랜드 인용도 측정. 2026 의 새 KPI.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GSC · GA4 · 네이버 서치어드바이저 단계별 가이드 (도움말 펼침)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LLM Visibility Audit: 3 LLM × 20 쿼리 = 60건 병렬 실행 ($0.30)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알리아스 인식 (한글·영문·합성형 통합 카운트)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경쟁사 비교 score + 시간 추세 (월간 자동 측정)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/mr-ai/analytics · LLM Visibility 점수 + 경쟁사 비교 차트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12 · 마케팅 채널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13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마케팅 채널 셋업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channels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0802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10분 (Auto-Seed) + 채널별 5분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X · IG · YouTube · 네이버 블로그 · TikTok 5 채널 자동 시드. 각자 다른 페르소나 · 다른 포스팅 스타일.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워크스페이스 이름 기반 핸들 자동 생성 (@brand_global · @brand.kr 등)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채널별 한 줄 페르소나 + posting_style spec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콘텐츠 생성 시 채널 spec 자동 prepend → 인스타용이 X 에 그대로 안 가게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각 채널 카드에 '이 공간 페르소나' 미리보기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/mr-ai/channels · 5 채널 카드 그리드 + 페르소나 미리보기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13 · 멤버 ·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14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멤버 초대 + 권한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0515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1회 셋업 · 분 단위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워크스페이스 단위 4 역할. Owner · Admin · Analyst · Viewer.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Owner: 모든 권한 + 결제 · 워크스페이스 삭제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Admin: 멤버 초대 · 채널 · 통합 · 콘텐츠 발행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Analyst: 시뮬 실행 · 콘텐츠 작성 (발행 제한 옵션)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Viewer: 결과 조회 전용 — 외부 파트너 공유용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/settings/team · 멤버 리스트 + 역할 드롭다운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45720" cy="21031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콘텐츠 생산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content engine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13 · 콘텐츠 드래프터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16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AI 콘텐츠 생성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drafter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3944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30-60초 · $0.05/변형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주제 한 줄 + 캠페인 라벨 → A/B/C 3 변형 자동 생성. 5 포맷 (기본·비교·Q&amp;A·정의·리스트) 중 선택.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각 변형: body · hashtags · CTA · image_prompt · SEO 메타 동시 생성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Bilingual: target market 언어 + 한국어 번역 (오퍼레이터 확인용)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SEO 점수 + LLM-SEO 점수 자동 계산 (인용 가능성)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워크스페이스 톤 학습 → 매주 winner 패턴 spec 자동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/mr-ai/channels/[id] · 생성 모달 + 결과 카드 3개 (SEO 배지 포함)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14 · 이미지 자동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17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이미지 생성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gpt-image-1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66878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15-30초 / 이미지 · $0.042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콘텐츠 카드 한 클릭 → 카테고리별 시각 spec 자동 적용 → gpt-image-1 → 후처리 로고 합성.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카테고리별 다른 spec: footwear · cosmetics · electronics · food 등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제품 무브랜드 강제 + 가짜 글자 환각 차단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실루엣 · 색상 · 로고 위치 reference 사진 정확 매칭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1 프레임 / 캐러셀 모두 지원 · 플랫폼별 비율 (16:9 · 1:1 · 9:16)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콘텐츠 카드에 생성된 이미지 + image_prompt 영문/한글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17 · 편집 · 발행 취소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18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콘텐츠 편집 + 라이프사이클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edit · revision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즉시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AI 가 만든 초안은 출발점. 임원이 한 줄 수정해도 — 모든 변경이 추적되고 KPI 루프에 반영.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✏️ 편집 — body · CTA · 해시태그 · 이미지 프롬프트 · SEO 메타 모두 인라인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이미지 프롬프트 수정 후 재생성 → 새 컷 (기존 보존)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발행 confirm 다이얼로그 — body 80자 미리보기로 실수 클릭 방지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발행 취소 — 누적 좋아요 · 댓글 · 시뮬 기록 함께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콘텐츠 카드 ✏️ 편집 모달 + 발행 취소 링크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18 · 페르소나 반응 시뮬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19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발행 전 검증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persona sim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6289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30명: 60초 · $0.10 | 100명: 3분 · $0.36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A/B/C 중 어느 변형이 가장 잘 반응하는지 — 발행 전에 페르소나 풀에서 사전 검증.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채널 target market 매칭 페르소나 자동 샘플링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like · comment · share · save · scroll-past 5 신호 집계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페르소나별 voice (1-2 문장) 수집 — 거부 / 신뢰 이유 명시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winner 자동 마킹 → KPI 루프 학습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콘텐츠 카드 시뮬 결과 표 (A/B/C × like_rate × voice 5개)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16 · 발행 + KPI 루프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20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발행 + 학습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publish ·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12014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즉시 · 매주 자동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Winner 변형 발행 → 누적 좋아요 · 댓글 · 공유 자동 추적 → 다음 콘텐츠 spec 에 자동 반영.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발행 시 confirm 다이얼로그 (실수 클릭 방지) + 발행 취소 가능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가상 피드 시뮬 cron — follower 성장 · 반응 누적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4주 후 톤 정량 규칙 도출 — 외주 brief 1 page 로 추출 가능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v0.2: X · LinkedIn · IG OAuth 실 발행 연동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콘텐츠 카드 발행 배지 + 누적 KPI · 매주 winner 패턴 화면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45720" cy="21031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Market Twin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market validation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21 · 프로젝트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22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Market Twin · 프로젝트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wizard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1분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제품·국가·가격·경쟁사 URL — 6 필드 한 화면. 경쟁사 가격은 자동 추출.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출시 모국 + 후보 진출국 (도메스틱 포함 가능, Top-2 추천에서는 제외)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경쟁사 URL → Tavily + LLM 으로 가격 자동 추출 → anchoring 데이터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카테고리별 규제 자동 검토 (footwear · 식품 · 화장품 등)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사진/룩북 첨부 — 시각 reference 로 페르소나 시뮬에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/projects/new · 6 단계 위자드 + 진행률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22 · 티어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23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시뮬 정밀도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4 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2860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Hypothesis ~ Deep · ₩2k ~ ₩50k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의사결정 단계에 맞춘 4 티어. 페르소나 수 · 시뮬 수 · 시간 · 비용 모두 다름.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Hypothesis (200명 · 5-8분 · ₩2k) — 방향 빠르게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Decision (1,200명 · 10-15분 · ₩8k) — 임원회의 사전 자료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Decision+ (3,000명 · 15-22분 · ₩20k) — 본격 진출 결정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Deep (5,000명 · 22-30분 · ₩50k) — 이사회 · IR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RunEnsemble 버튼 모달 · 4 티어 카드 비교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23 · MULTI-LLM 앙상블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24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한 LLM 의 편향을 가둠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병렬 실행 · 합의 등급 자동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모든 시뮬을 3 LLM (Anthropic · OpenAI · DeepSeek) round-robin 으로 실행 → 합의 등급 자동 표시.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STRONG / WEAK / NO CONSENSUS 3 등급 — 그대로 의사결정 신뢰도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DeepSeek 의 아시아 시장 인식 강점 자동 가중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narrative merge LLM 이 N sim 결과를 단일 합의 narrative 로 통합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Cloud Run worker · Vercel 병렬로 60초 제약 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결과 페이지 · 합의 등급 배지 + per-LLM 점수 비교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24 · 결과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25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추천 진출국 + 가격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05156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즉시 (시뮬 완료 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Top-2 추천국 + 국가별 5 컴포넌트 점수 + 가격 곡선 + 페르소나 voice — 한 페이지 요약.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5 컴포넌트: 가격 fit · 채널 fit · 페르소나 fit · 경쟁 강도 · 규제 friction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5 지점 가격 곡선 — sweet spot 자동 표시 (전환 × 매출 최대화)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거부 / 신뢰 voice 자동 카운트 + 직접 인용 표시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10+ 탭 — Overview · 국가 · 가격 · 페르소나 · 의사결정 보조 · 리스크 · 액션 · 데이터 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/projects/[id]/results · 첫 화면 추천 카드 + 점수표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25 · 페르소나 인터뷰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26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1,200명 voice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persona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18872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즉시 + 추가 인터뷰 무료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각 페르소나 카드 → 💬 채팅으로 정성 인터뷰 모드. 페르소나 정체성 유지한 추가 질의.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국가 · 직군 · 연령 · 의향 · 가격 민감도 필터링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거부 / 신뢰 voice — 자유 형식 1-2문장 자동 수집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💬 채팅 — 그 페르소나의 정체성으로 추가 질문 (인터뷰처럼)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필터링한 페르소나 그룹 전체에 같은 질문 일괄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페르소나 탭 · 필터 + 카드 + 채팅 모달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26 · PDF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27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임원용 · 상세 · 교차검증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3 variants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2573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0F1F3D"/>
                </a:solidFill>
                <a:latin typeface="Pretendard"/>
              </a:rPr>
              <a:t>30-90초 / 종 · 무료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A5468"/>
                </a:solidFill>
                <a:latin typeface="Pretendard"/>
              </a:rPr>
              <a:t>한 클릭 → 3 종 PDF 자동 생성. 폰트 Pretendard · 미니멀 editorial 디자인.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6675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임원용 (5-7p): 1 페이지 요약 + 권장사항 + 가격 곡선 + 위험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상세 (15-25p): 모든 국가 + 페르소나 voice 30건+ + 시나리오 분석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교차검증 (10-15p): 방법론 + Multi-LLM 합의 등급 + 외부 데이터 출처</a:t>
            </a:r>
          </a:p>
          <a:p>
            <a:pPr>
              <a:lnSpc>
                <a:spcPct val="150000"/>
              </a:lnSpc>
            </a:pPr>
            <a:r>
              <a:rPr sz="1200">
                <a:solidFill>
                  <a:srgbClr val="1A2233"/>
                </a:solidFill>
                <a:latin typeface="Pretendard"/>
              </a:rPr>
              <a:t>·  한국어 · 영문 · 시장 언어 (JP · CN · TW) 모두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960120"/>
            <a:ext cx="4297680" cy="5029200"/>
          </a:xfrm>
          <a:prstGeom prst="rect">
            <a:avLst/>
          </a:prstGeom>
          <a:solidFill>
            <a:srgbClr val="F1ECDE"/>
          </a:solidFill>
          <a:ln w="9525">
            <a:solidFill>
              <a:srgbClr val="C9B7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200">
                <a:solidFill>
                  <a:srgbClr val="C9B79A"/>
                </a:solidFill>
              </a:rPr>
              <a:t>📷</a:t>
            </a:r>
          </a:p>
          <a:p>
            <a:pPr algn="ctr"/>
            <a:r>
              <a:rPr sz="1000">
                <a:solidFill>
                  <a:srgbClr val="8A93A4"/>
                </a:solidFill>
                <a:latin typeface="Pretendard"/>
              </a:rPr>
              <a:t>
결과 페이지 PDF 메뉴 + 다운로드된 임원용 PDF 첫 페이지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45720" cy="21031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통합 · 200% 활용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value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17 · 외부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29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외부 시스템 통합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워크스페이스 안의 데이터 · 결정 · KPI 가 외부 시스템과 양방향 동기화.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CRM · DEALS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HubSpot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거래 · 컨택 · 파이프라인
자동 동기화 (OAuth)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30175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32004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BRIEFING ·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35204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Daily Briefing 발송
채널별 알림 라우팅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30175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2004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5204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Resend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결과 알림 · 위클리 리포트
자동 발송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0566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SEO 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3766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Google Search Console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83387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콘텐츠 인덱싱 상태
자동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1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50566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BEHAVIOR · VITALS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53766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Google Analytics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1" y="583387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방문자 행동 · Web Vitals
KPI 루프 입력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3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505663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KR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3766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F1F3D"/>
                </a:solidFill>
                <a:latin typeface="Pretendard"/>
              </a:rPr>
              <a:t>네이버 서치어드바이저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583387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한국 검색 인덱싱
Sitemap 자동 ping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18 · MARKET TWIN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30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Market Twin 과 한 워크스페이스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market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시장 진출 검증 (Market Twin) 의 결과가 → 메모리 → Mr.AI 콘텐츠 생성의 컨텍스트로 즉시 흐름.
1 주: 시뮬 / 2 주: 결과 메모리 등재 / 3 주: 콘텐츠 생성 / 4 주: 발행 + KPI 측정.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566160"/>
            <a:ext cx="914400" cy="256032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FAF8F3"/>
                </a:solidFill>
                <a:latin typeface="Pretendard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Pretendard"/>
              </a:rPr>
              <a:t>Market Twin 시뮬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Decision+ 티어 · 3,000 페르소나
24개국 평가 · 추천 진출국 + 가격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4526280"/>
            <a:ext cx="118872" cy="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0" y="443484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383280" y="452628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329184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5032" y="3566160"/>
            <a:ext cx="914400" cy="256032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FAF8F3"/>
                </a:solidFill>
                <a:latin typeface="Pretendard"/>
              </a:rPr>
              <a:t>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Pretendard"/>
              </a:rPr>
              <a:t>메모리 자동 등재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47091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결과를 워크스페이스 메모리에
type=decision / fact / 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4526280"/>
            <a:ext cx="118872" cy="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91072" y="443484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291072" y="452628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64224" y="329184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92824" y="3566160"/>
            <a:ext cx="914400" cy="256032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FAF8F3"/>
                </a:solidFill>
                <a:latin typeface="Pretendard"/>
              </a:rPr>
              <a:t>WEEK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Pretendard"/>
              </a:rPr>
              <a:t>콘텐츠 자동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7091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거부·신뢰 voice 컨텍스트로
타겟 시장 언어 12+ 변형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25712" y="4526280"/>
            <a:ext cx="118872" cy="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98864" y="443484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198864" y="4526280"/>
            <a:ext cx="45720" cy="91440"/>
          </a:xfrm>
          <a:prstGeom prst="line">
            <a:avLst/>
          </a:prstGeom>
          <a:ln w="19050">
            <a:solidFill>
              <a:srgbClr val="BE6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272016" y="3291840"/>
            <a:ext cx="27432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0616" y="3566160"/>
            <a:ext cx="914400" cy="256032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00" b="1" spc="180">
                <a:solidFill>
                  <a:srgbClr val="FAF8F3"/>
                </a:solidFill>
                <a:latin typeface="Pretendard"/>
              </a:rPr>
              <a:t>WEEK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6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Pretendard"/>
              </a:rPr>
              <a:t>발행 + KPI 측정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47091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winner 시뮬 검증 후 발행
실제 KPI vs 시뮬 예측 비교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350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8A93A4"/>
                </a:solidFill>
                <a:latin typeface="Pretendard"/>
              </a:rPr>
              <a:t>24개월 후 — 시뮬 노이즈 ±15% → ±5%. 자사 실 진출 데이터로 자체 보정되는 의사결정 인프라.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19 · 200% 활용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31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한 주 사용 시나리오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200% utilization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Mr.AI 도입 후 마케팅 임원의 평균적인 한 주. 모든 단계가 같은 메모리 위에서.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39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0632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08:00 Daily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6323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어제 경쟁사 신상·뉴스 3분 읽기. 이번 주 우선순위 결정.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520439"/>
            <a:ext cx="11155680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8640" y="3566159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5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661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콘텐츠 12건 자동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6615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주제 4 × A/B/C. 페르소나 시뮬 → winner 마킹.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023359"/>
            <a:ext cx="11155680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" y="4069080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69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Market Twin 시뮬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069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신규 진출국 후보 검토 · 가격 곡선 도출 (15분).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526280"/>
            <a:ext cx="11155680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4572000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발행 + 디자인 큐레이션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572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winner 변형 5 채널 동시 발행. 디자이너는 이미지 review.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029200"/>
            <a:ext cx="11155680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5074920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74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74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주간 KPI 자동 정리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0749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이번 주 winner 패턴 학습. 다음 주 spec 자동 업데이트.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532120"/>
            <a:ext cx="11155680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5577840"/>
            <a:ext cx="731520" cy="3657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8F3"/>
                </a:solidFill>
                <a:latin typeface="Pretendard"/>
              </a:rPr>
              <a:t>주말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577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F3D"/>
                </a:solidFill>
                <a:latin typeface="Pretendard"/>
              </a:rPr>
              <a:t>자동 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577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5468"/>
                </a:solidFill>
                <a:latin typeface="Pretendard"/>
              </a:rPr>
              <a:t>크롤 · 브리핑 (월요일분 준비) · 시뮬 큐 자동 진행.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20 · 정량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32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측정 가능한 결과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도입 후 평균적인 30일 변화. 정량은 명확, 정성은 더 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00" cy="1691640"/>
          </a:xfrm>
          <a:prstGeom prst="rect">
            <a:avLst/>
          </a:prstGeom>
          <a:solidFill>
            <a:srgbClr val="F0DEC9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2461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콘텐츠 생산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39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10×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43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월 8건 → 80건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30175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32461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캠페인 셋업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3520439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96%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4343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1주 → 30분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30175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2461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시장 진출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520439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4343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기존 6개월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1023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AI 페르소나 / 시뮬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376672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61996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Decision+ 티어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1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51023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연 마케팅 비용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5376672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58%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1" y="61996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1.9억 → 0.8억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3" y="4873752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51023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POSTHOG 이벤트 / SENTRY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376672"/>
            <a:ext cx="3108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i="1">
                <a:solidFill>
                  <a:srgbClr val="0F1F3D"/>
                </a:solidFill>
                <a:latin typeface="Cormorant Garamond"/>
              </a:rPr>
              <a:t>18 /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61996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468"/>
                </a:solidFill>
                <a:latin typeface="Pretendard"/>
              </a:rPr>
              <a:t>정량 운영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50">
                <a:solidFill>
                  <a:srgbClr val="BE6E3C"/>
                </a:solidFill>
                <a:latin typeface="Pretendard"/>
              </a:rPr>
              <a:t>21 · FSN 사업에서의 포지셔닝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8A93A4"/>
                </a:solidFill>
                <a:latin typeface="Cormorant Garamond"/>
              </a:rPr>
              <a:t>33 /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635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200">
                <a:solidFill>
                  <a:srgbClr val="8A93A4"/>
                </a:solidFill>
                <a:latin typeface="Pretendard"/>
              </a:rPr>
              <a:t>Mr.AI · AI-Native CMO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BE6E3C"/>
                </a:solidFill>
                <a:latin typeface="Cormorant Garamond"/>
              </a:rPr>
              <a:t>MR.AI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5080">
            <a:solidFill>
              <a:srgbClr val="E2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96012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0F1F3D"/>
                </a:solidFill>
                <a:latin typeface="Pretendard"/>
              </a:rPr>
              <a:t>FSN 사업의 한 축</a:t>
            </a:r>
            <a:r>
              <a:rPr sz="3400" i="1">
                <a:solidFill>
                  <a:srgbClr val="BE6E3C"/>
                </a:solidFill>
                <a:latin typeface="Cormorant Garamond"/>
              </a:rPr>
              <a:t> fsn 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468"/>
                </a:solidFill>
                <a:latin typeface="Pretendard"/>
              </a:rPr>
              <a:t>FSN 포트폴리오 N 브랜드를 — 같은 인프라로 — 동시에 운영. 브랜드별 격리 · KPI 통합 가시성.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59" y="3291839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포트폴리오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60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468"/>
                </a:solidFill>
                <a:latin typeface="Pretendard"/>
              </a:rPr>
              <a:t>N 브랜드 = N 워크스페이스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720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각 브랜드의 메모리·KPI·채널 분리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FSN 본사 super admin 은 통합 view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브랜드별 비용 정산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1" y="3017520"/>
            <a:ext cx="3657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1" y="3291839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신규 브랜드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4160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468"/>
                </a:solidFill>
                <a:latin typeface="Pretendard"/>
              </a:rPr>
              <a:t>Auto-Seed 로 1시간 셋업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45720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사업계획서 PDF → 메모리 자동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카테고리별 프리셋 자동 적용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1주 안에 콘텐츠 생산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3" y="3017520"/>
            <a:ext cx="3657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7344" y="3291839"/>
            <a:ext cx="457200" cy="256032"/>
          </a:xfrm>
          <a:prstGeom prst="rect">
            <a:avLst/>
          </a:prstGeom>
          <a:solidFill>
            <a:srgbClr val="F0D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700" b="1" spc="180">
                <a:solidFill>
                  <a:srgbClr val="0F1F3D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F3D"/>
                </a:solidFill>
                <a:latin typeface="Pretendard"/>
              </a:rPr>
              <a:t>자산 누적 효과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4160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468"/>
                </a:solidFill>
                <a:latin typeface="Pretendard"/>
              </a:rPr>
              <a:t>데이터가 FSN 의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45720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페르소나 풀 · 톤 학습 · 시뮬 보정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브랜드 종료해도 인사이트 보존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1A2233"/>
                </a:solidFill>
                <a:latin typeface="Pretendard"/>
              </a:rPr>
              <a:t>·  신규 브랜드에 즉시 전이 가능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45720" cy="4846320"/>
          </a:xfrm>
          <a:prstGeom prst="rect">
            <a:avLst/>
          </a:prstGeom>
          <a:solidFill>
            <a:srgbClr val="B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BE6E3C"/>
                </a:solidFill>
                <a:latin typeface="Pretendard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79A"/>
                </a:solidFill>
                <a:latin typeface="Pretendard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</a:pPr>
            <a:r>
              <a:rPr sz="4000">
                <a:solidFill>
                  <a:srgbClr val="FAF8F3"/>
                </a:solidFill>
                <a:latin typeface="Pretendard"/>
              </a:rPr>
              <a:t>한 브랜드 · 4주 · </a:t>
            </a:r>
            <a:r>
              <a:rPr sz="4000" i="1">
                <a:solidFill>
                  <a:srgbClr val="C9B79A"/>
                </a:solidFill>
                <a:latin typeface="Cormorant Garamond"/>
              </a:rPr>
              <a:t>to validate.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31920"/>
            <a:ext cx="2743200" cy="2011680"/>
          </a:xfrm>
          <a:prstGeom prst="rect">
            <a:avLst/>
          </a:prstGeom>
          <a:solidFill>
            <a:srgbClr val="182C52"/>
          </a:solidFill>
          <a:ln w="9525">
            <a:solidFill>
              <a:srgbClr val="4A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8F3"/>
                </a:solidFill>
                <a:latin typeface="Pretendard"/>
              </a:rPr>
              <a:t>셋업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7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9B79A"/>
                </a:solidFill>
                <a:latin typeface="Pretendard"/>
              </a:rPr>
              <a:t>워크스페이스 생성 · Auto-Seed · 사업계획서 메모리 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6472" y="3931920"/>
            <a:ext cx="2743200" cy="2011680"/>
          </a:xfrm>
          <a:prstGeom prst="rect">
            <a:avLst/>
          </a:prstGeom>
          <a:solidFill>
            <a:srgbClr val="182C52"/>
          </a:solidFill>
          <a:ln w="9525">
            <a:solidFill>
              <a:srgbClr val="4A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4480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8F3"/>
                </a:solidFill>
                <a:latin typeface="Pretendard"/>
              </a:rPr>
              <a:t>운영 활성화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498347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9B79A"/>
                </a:solidFill>
                <a:latin typeface="Pretendard"/>
              </a:rPr>
              <a:t>크롤·브리핑 가동 · 채널 셋업 · 첫 콘텐츠 12건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4264" y="3931920"/>
            <a:ext cx="2743200" cy="2011680"/>
          </a:xfrm>
          <a:prstGeom prst="rect">
            <a:avLst/>
          </a:prstGeom>
          <a:solidFill>
            <a:srgbClr val="182C52"/>
          </a:solidFill>
          <a:ln w="9525">
            <a:solidFill>
              <a:srgbClr val="4A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4480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8F3"/>
                </a:solidFill>
                <a:latin typeface="Pretendard"/>
              </a:rPr>
              <a:t>Market Twin 1회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498347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9B79A"/>
                </a:solidFill>
                <a:latin typeface="Pretendard"/>
              </a:rPr>
              <a:t>주요 진출 검토 1건 · 결과 → 콘텐츠 컨텍스트 연결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92056" y="3931920"/>
            <a:ext cx="2743200" cy="2011680"/>
          </a:xfrm>
          <a:prstGeom prst="rect">
            <a:avLst/>
          </a:prstGeom>
          <a:solidFill>
            <a:srgbClr val="182C52"/>
          </a:solidFill>
          <a:ln w="9525">
            <a:solidFill>
              <a:srgbClr val="4A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0656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BE6E3C"/>
                </a:solidFill>
                <a:latin typeface="Pretendard"/>
              </a:rP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6" y="44805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8F3"/>
                </a:solidFill>
                <a:latin typeface="Pretendard"/>
              </a:rPr>
              <a:t>KPI 측정 ·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498347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9B79A"/>
                </a:solidFill>
                <a:latin typeface="Pretendard"/>
              </a:rPr>
              <a:t>winner 패턴 정리 · ROI 추정 · 정식 도입 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